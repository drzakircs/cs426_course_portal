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BD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228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4482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377440"/>
            <a:ext cx="6217920" cy="6217920"/>
          </a:xfrm>
          <a:prstGeom prst="ellipse">
            <a:avLst/>
          </a:prstGeom>
          <a:ln w="31750">
            <a:solidFill>
              <a:srgbClr val="2434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1463040"/>
            <a:ext cx="4389120" cy="4389120"/>
          </a:xfrm>
          <a:prstGeom prst="ellipse">
            <a:avLst/>
          </a:prstGeom>
          <a:ln w="19050">
            <a:solidFill>
              <a:srgbClr val="2434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-  AIR UNIVERSITY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and Distributed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CS-426  -  Week 1 Theory: Foundations of Parallel Computing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79" y="4041648"/>
            <a:ext cx="4608195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251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50799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Zakir Khan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4892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Department of Computer Science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390888" y="1801368"/>
            <a:ext cx="2615184" cy="2615184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2" name="Image 0" descr="headshot_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1874520"/>
            <a:ext cx="2468880" cy="2468880"/>
          </a:xfrm>
          <a:prstGeom prst="ellipse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40080" y="5577840"/>
            <a:ext cx="5120640" cy="502920"/>
          </a:xfrm>
          <a:prstGeom prst="roundRect">
            <a:avLst>
              <a:gd name="adj" fmla="val 50909"/>
            </a:avLst>
          </a:prstGeom>
          <a:solidFill>
            <a:srgbClr val="1E2A44"/>
          </a:solidFill>
          <a:ln w="12700">
            <a:solidFill>
              <a:srgbClr val="2C3B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55778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 Theory   -   2 Classes x 50 Minutes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6263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University - Kamra Campus  |  2025-2026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SESSIONS, ONE WEEK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 Roadmap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6" name="Image 0" descr="hourg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7" y="2168957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3157" y="2098548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Introduction &amp;</a:t>
            </a:r>
            <a:endParaRPr lang="en-US" sz="2400" dirty="0"/>
          </a:p>
          <a:p>
            <a:pPr marL="0" indent="0">
              <a:lnSpc>
                <a:spcPts val="25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Parallel Computing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960120" y="3392424"/>
            <a:ext cx="100584" cy="10058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Text 7"/>
          <p:cNvSpPr/>
          <p:nvPr/>
        </p:nvSpPr>
        <p:spPr>
          <a:xfrm>
            <a:off x="1234440" y="3218688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 &amp; what you'll learn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960120" y="3904488"/>
            <a:ext cx="100584" cy="10058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9"/>
          <p:cNvSpPr/>
          <p:nvPr/>
        </p:nvSpPr>
        <p:spPr>
          <a:xfrm>
            <a:off x="1234440" y="3730752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parallel computing matters now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960120" y="4416552"/>
            <a:ext cx="100584" cy="10058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1"/>
          <p:cNvSpPr/>
          <p:nvPr/>
        </p:nvSpPr>
        <p:spPr>
          <a:xfrm>
            <a:off x="1234440" y="4242816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multi-core shift &amp; its causes</a:t>
            </a: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960120" y="4928616"/>
            <a:ext cx="100584" cy="10058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6" name="Text 13"/>
          <p:cNvSpPr/>
          <p:nvPr/>
        </p:nvSpPr>
        <p:spPr>
          <a:xfrm>
            <a:off x="1234440" y="4754880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960120" y="5440680"/>
            <a:ext cx="100584" cy="10058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8" name="Text 15"/>
          <p:cNvSpPr/>
          <p:nvPr/>
        </p:nvSpPr>
        <p:spPr>
          <a:xfrm>
            <a:off x="1234440" y="5266944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</a:t>
            </a: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6355080" y="178308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675120" y="2103120"/>
            <a:ext cx="548640" cy="54864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1" name="Image 1" descr="hourg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957" y="2168957"/>
            <a:ext cx="416966" cy="41696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289597" y="2108986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</a:t>
            </a:r>
            <a:endParaRPr lang="en-US" sz="2400" dirty="0"/>
          </a:p>
          <a:p>
            <a:pPr marL="0" indent="0">
              <a:lnSpc>
                <a:spcPts val="2500"/>
              </a:lnSpc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Computing</a:t>
            </a:r>
            <a:endParaRPr lang="en-US" sz="2400" dirty="0"/>
          </a:p>
        </p:txBody>
      </p:sp>
      <p:sp>
        <p:nvSpPr>
          <p:cNvPr id="24" name="Shape 20"/>
          <p:cNvSpPr/>
          <p:nvPr/>
        </p:nvSpPr>
        <p:spPr>
          <a:xfrm>
            <a:off x="6766560" y="3392424"/>
            <a:ext cx="100584" cy="10058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5" name="Text 21"/>
          <p:cNvSpPr/>
          <p:nvPr/>
        </p:nvSpPr>
        <p:spPr>
          <a:xfrm>
            <a:off x="7040880" y="3218688"/>
            <a:ext cx="416052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parallel computing?</a:t>
            </a:r>
            <a:endParaRPr lang="en-US" dirty="0"/>
          </a:p>
        </p:txBody>
      </p:sp>
      <p:sp>
        <p:nvSpPr>
          <p:cNvPr id="26" name="Shape 22"/>
          <p:cNvSpPr/>
          <p:nvPr/>
        </p:nvSpPr>
        <p:spPr>
          <a:xfrm>
            <a:off x="6766560" y="3822192"/>
            <a:ext cx="100584" cy="10058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7" name="Text 23"/>
          <p:cNvSpPr/>
          <p:nvPr/>
        </p:nvSpPr>
        <p:spPr>
          <a:xfrm>
            <a:off x="7040880" y="3648456"/>
            <a:ext cx="416052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vs. parallel computing</a:t>
            </a:r>
            <a:endParaRPr lang="en-US" dirty="0"/>
          </a:p>
        </p:txBody>
      </p:sp>
      <p:sp>
        <p:nvSpPr>
          <p:cNvPr id="28" name="Shape 24"/>
          <p:cNvSpPr/>
          <p:nvPr/>
        </p:nvSpPr>
        <p:spPr>
          <a:xfrm>
            <a:off x="6766560" y="4251960"/>
            <a:ext cx="100584" cy="10058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9" name="Text 25"/>
          <p:cNvSpPr/>
          <p:nvPr/>
        </p:nvSpPr>
        <p:spPr>
          <a:xfrm>
            <a:off x="7040880" y="4078224"/>
            <a:ext cx="416052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of parallelism: data vs. task</a:t>
            </a:r>
            <a:endParaRPr lang="en-US" dirty="0"/>
          </a:p>
        </p:txBody>
      </p:sp>
      <p:sp>
        <p:nvSpPr>
          <p:cNvPr id="30" name="Shape 26"/>
          <p:cNvSpPr/>
          <p:nvPr/>
        </p:nvSpPr>
        <p:spPr>
          <a:xfrm>
            <a:off x="6766560" y="4681728"/>
            <a:ext cx="100584" cy="10058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1" name="Text 27"/>
          <p:cNvSpPr/>
          <p:nvPr/>
        </p:nvSpPr>
        <p:spPr>
          <a:xfrm>
            <a:off x="7040880" y="4507992"/>
            <a:ext cx="416052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of parallelism</a:t>
            </a:r>
            <a:endParaRPr lang="en-US" dirty="0"/>
          </a:p>
        </p:txBody>
      </p:sp>
      <p:sp>
        <p:nvSpPr>
          <p:cNvPr id="32" name="Shape 28"/>
          <p:cNvSpPr/>
          <p:nvPr/>
        </p:nvSpPr>
        <p:spPr>
          <a:xfrm>
            <a:off x="6766560" y="5111496"/>
            <a:ext cx="100584" cy="10058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3" name="Text 29"/>
          <p:cNvSpPr/>
          <p:nvPr/>
        </p:nvSpPr>
        <p:spPr>
          <a:xfrm>
            <a:off x="7040880" y="4937760"/>
            <a:ext cx="416052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vs. distributed computing</a:t>
            </a:r>
            <a:endParaRPr lang="en-US" dirty="0"/>
          </a:p>
        </p:txBody>
      </p:sp>
      <p:sp>
        <p:nvSpPr>
          <p:cNvPr id="34" name="Shape 30"/>
          <p:cNvSpPr/>
          <p:nvPr/>
        </p:nvSpPr>
        <p:spPr>
          <a:xfrm>
            <a:off x="6766560" y="5541264"/>
            <a:ext cx="100584" cy="10058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5" name="Text 31"/>
          <p:cNvSpPr/>
          <p:nvPr/>
        </p:nvSpPr>
        <p:spPr>
          <a:xfrm>
            <a:off x="7040880" y="5367528"/>
            <a:ext cx="416052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recap &amp; what's next</a:t>
            </a: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CS-426  -  PARALLEL &amp; DISTRIBUTED COMPUTING  |  WEEK 1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566160"/>
            <a:ext cx="6400800" cy="6400800"/>
          </a:xfrm>
          <a:prstGeom prst="ellipse">
            <a:avLst/>
          </a:prstGeom>
          <a:ln w="25400">
            <a:solidFill>
              <a:srgbClr val="2434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-  55 MINUTES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278892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Introduction &amp;</a:t>
            </a:r>
            <a:endParaRPr lang="en-US" sz="3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Parallel Computing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58368" y="4343400"/>
            <a:ext cx="5323332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6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CS-426  -  PARALLEL &amp; DISTRIBUTED COMPUTING  |  WEEK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75488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509760" y="4754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Introduction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and Distributed Computing gives you the concepts and tools to design solutions that run across multiple processors and machines - not just one.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090672"/>
            <a:ext cx="100584" cy="10058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16936"/>
            <a:ext cx="54864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 and models for parallel &amp; distributed systems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602736"/>
            <a:ext cx="100584" cy="10058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54864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paradigms: MPI, OpenMP, CUDA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100584" cy="10058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941064"/>
            <a:ext cx="54864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algorithms &amp; performance analysis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4626864"/>
            <a:ext cx="100584" cy="10058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453128"/>
            <a:ext cx="54864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hierarchies, concurrency &amp; fault tolerance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5138928"/>
            <a:ext cx="100584" cy="10058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965192"/>
            <a:ext cx="54864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 across science, AI &amp; industry </a:t>
            </a:r>
            <a:r>
              <a:rPr lang="en-US" sz="17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</a:t>
            </a:r>
            <a:endParaRPr lang="en-US" sz="1700" dirty="0">
              <a:solidFill>
                <a:srgbClr val="FF0000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766560" y="1691640"/>
            <a:ext cx="4846320" cy="4206240"/>
          </a:xfrm>
          <a:prstGeom prst="roundRect">
            <a:avLst>
              <a:gd name="adj" fmla="val 2174"/>
            </a:avLst>
          </a:prstGeom>
          <a:solidFill>
            <a:srgbClr val="0F172A"/>
          </a:solidFill>
          <a:ln/>
        </p:spPr>
      </p:sp>
      <p:sp>
        <p:nvSpPr>
          <p:cNvPr id="18" name="Shape 16"/>
          <p:cNvSpPr/>
          <p:nvPr/>
        </p:nvSpPr>
        <p:spPr>
          <a:xfrm>
            <a:off x="7086600" y="2011680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9" name="Image 0" descr="clipboard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437" y="2077517"/>
            <a:ext cx="416966" cy="41696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772400" y="20756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132320" y="2834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PRE-REQUISITE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1323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7132320" y="3657600"/>
            <a:ext cx="4114800" cy="0"/>
          </a:xfrm>
          <a:prstGeom prst="line">
            <a:avLst/>
          </a:prstGeom>
          <a:noFill/>
          <a:ln w="12700">
            <a:solidFill>
              <a:srgbClr val="2C3B5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0" y="3840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ALREADY KNOW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132320" y="4306824"/>
            <a:ext cx="100584" cy="10058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6" name="Text 23"/>
          <p:cNvSpPr/>
          <p:nvPr/>
        </p:nvSpPr>
        <p:spPr>
          <a:xfrm>
            <a:off x="7406640" y="41330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&amp; threads basics</a:t>
            </a: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7132320" y="4764024"/>
            <a:ext cx="100584" cy="10058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8" name="Text 25"/>
          <p:cNvSpPr/>
          <p:nvPr/>
        </p:nvSpPr>
        <p:spPr>
          <a:xfrm>
            <a:off x="7406640" y="45902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scheduling concepts</a:t>
            </a:r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7132320" y="5221224"/>
            <a:ext cx="100584" cy="10058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0" name="Text 27"/>
          <p:cNvSpPr/>
          <p:nvPr/>
        </p:nvSpPr>
        <p:spPr>
          <a:xfrm>
            <a:off x="7406640" y="50474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 fundamentals</a:t>
            </a: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CS-426  -  PARALLEL &amp; DISTRIBUTED COMPUTING  |  WEEK 1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75488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509760" y="4754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Parallel Computing?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03520" cy="178308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16233A"/>
          </a:solidFill>
          <a:ln/>
        </p:spPr>
      </p:sp>
      <p:pic>
        <p:nvPicPr>
          <p:cNvPr id="8" name="Image 0" descr="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7" y="2123237"/>
            <a:ext cx="416966" cy="4169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203911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Single-core speed has limits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22960" y="278892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and power constraints mean </a:t>
            </a: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processor can't 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getting much faster.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309360" y="1783080"/>
            <a:ext cx="5303520" cy="178308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0" y="2057400"/>
            <a:ext cx="548640" cy="548640"/>
          </a:xfrm>
          <a:prstGeom prst="ellipse">
            <a:avLst/>
          </a:prstGeom>
          <a:solidFill>
            <a:srgbClr val="16233A"/>
          </a:solidFill>
          <a:ln/>
        </p:spPr>
      </p:sp>
      <p:pic>
        <p:nvPicPr>
          <p:cNvPr id="13" name="Image 1" descr="chart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517" y="2123237"/>
            <a:ext cx="416966" cy="41696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0" y="203911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keep growing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583680" y="278892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in science, AI, and business now </a:t>
            </a: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 what one machine can handle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48640" y="3931920"/>
            <a:ext cx="5303520" cy="178308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2960" y="4206240"/>
            <a:ext cx="548640" cy="548640"/>
          </a:xfrm>
          <a:prstGeom prst="ellipse">
            <a:avLst/>
          </a:prstGeom>
          <a:solidFill>
            <a:srgbClr val="16233A"/>
          </a:solidFill>
          <a:ln/>
        </p:spPr>
      </p:sp>
      <p:pic>
        <p:nvPicPr>
          <p:cNvPr id="18" name="Image 2" descr="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797" y="4272077"/>
            <a:ext cx="416966" cy="41696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418795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is a real advantage</a:t>
            </a: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822960" y="493776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results matter in </a:t>
            </a: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309360" y="3931920"/>
            <a:ext cx="5303520" cy="178308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583680" y="4206240"/>
            <a:ext cx="548640" cy="548640"/>
          </a:xfrm>
          <a:prstGeom prst="ellipse">
            <a:avLst/>
          </a:prstGeom>
          <a:solidFill>
            <a:srgbClr val="16233A"/>
          </a:solidFill>
          <a:ln/>
        </p:spPr>
      </p:sp>
      <p:pic>
        <p:nvPicPr>
          <p:cNvPr id="23" name="Image 3" descr="microchi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9517" y="4272077"/>
            <a:ext cx="416966" cy="41696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15200" y="418795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is already parallel</a:t>
            </a: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6583680" y="493776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every </a:t>
            </a: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device has multiple cores 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software must use them.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CS-426  -  PARALLEL &amp; DISTRIBUTED COMPUTING  |  WEEK 1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75488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E2A44"/>
          </a:solidFill>
          <a:ln w="12700">
            <a:solidFill>
              <a:srgbClr val="2C3B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509760" y="4754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TURNING POINT IN COMPUTING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Chips Went Multi-Core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929384"/>
            <a:ext cx="100584" cy="10058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55648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decades, single-core clock </a:t>
            </a: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roughly doubled every 2 years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706624"/>
            <a:ext cx="100584" cy="10058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32888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mid-2000s, </a:t>
            </a: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limits stopped that trend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483864"/>
            <a:ext cx="100584" cy="10058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10128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makers pivoted: </a:t>
            </a: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cores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instead of a faster single core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61104"/>
            <a:ext cx="100584" cy="10058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087368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longer speeds up automatically - it </a:t>
            </a: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written to use multiple cores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583680" y="1783080"/>
            <a:ext cx="5029200" cy="4160520"/>
          </a:xfrm>
          <a:prstGeom prst="roundRect">
            <a:avLst>
              <a:gd name="adj" fmla="val 2198"/>
            </a:avLst>
          </a:prstGeom>
          <a:solidFill>
            <a:srgbClr val="16233A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20574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SPEED VS. CORE COUNT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49440" y="2560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1990s-2004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458200" y="2606040"/>
            <a:ext cx="2551176" cy="292608"/>
          </a:xfrm>
          <a:prstGeom prst="roundRect">
            <a:avLst>
              <a:gd name="adj" fmla="val 15625"/>
            </a:avLst>
          </a:pr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29535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core, rising clock speed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49440" y="3611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Mid-2000s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8458200" y="3657600"/>
            <a:ext cx="1559052" cy="292608"/>
          </a:xfrm>
          <a:prstGeom prst="roundRect">
            <a:avLst>
              <a:gd name="adj" fmla="val 15625"/>
            </a:avLst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400507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speed plateaus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0" y="4663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8458200" y="4709160"/>
            <a:ext cx="2834640" cy="292608"/>
          </a:xfrm>
          <a:prstGeom prst="roundRect">
            <a:avLst>
              <a:gd name="adj" fmla="val 15625"/>
            </a:avLst>
          </a:prstGeom>
          <a:solidFill>
            <a:srgbClr val="38BDF8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505663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cores per chip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949440" y="5760720"/>
            <a:ext cx="4297680" cy="0"/>
          </a:xfrm>
          <a:prstGeom prst="line">
            <a:avLst/>
          </a:prstGeom>
          <a:noFill/>
          <a:ln w="12700">
            <a:solidFill>
              <a:srgbClr val="2C3B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19977" y="5943600"/>
            <a:ext cx="4755743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i="1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historical reason parallel programming became essential - not optional.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6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CS-426  -  PARALLEL &amp; DISTRIBUTED COMPUTING  |  WEEK 1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75488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509760" y="4754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IT'S USED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 of Parallel Computing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44424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16233A"/>
          </a:solidFill>
          <a:ln/>
        </p:spPr>
      </p:sp>
      <p:pic>
        <p:nvPicPr>
          <p:cNvPr id="8" name="Image 0" descr="cloudsun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" y="2072030"/>
            <a:ext cx="382219" cy="38221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606040"/>
            <a:ext cx="3041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Forecasting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49808" y="2990088"/>
            <a:ext cx="3041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Simulating </a:t>
            </a:r>
            <a:r>
              <a:rPr lang="en-US" sz="1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atmospheric models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huge grids of data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58640" y="1783080"/>
            <a:ext cx="344424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87240" y="2011680"/>
            <a:ext cx="502920" cy="502920"/>
          </a:xfrm>
          <a:prstGeom prst="ellipse">
            <a:avLst/>
          </a:prstGeom>
          <a:solidFill>
            <a:srgbClr val="16233A"/>
          </a:solidFill>
          <a:ln/>
        </p:spPr>
      </p:sp>
      <p:pic>
        <p:nvPicPr>
          <p:cNvPr id="13" name="Image 1" descr="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7590" y="2072030"/>
            <a:ext cx="382219" cy="38221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59808" y="2606040"/>
            <a:ext cx="3041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559808" y="2990088"/>
            <a:ext cx="3041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</a:t>
            </a:r>
            <a:r>
              <a:rPr lang="en-US" sz="1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models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across many </a:t>
            </a:r>
            <a:r>
              <a:rPr lang="en-US" sz="1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cores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6" name="Shape 12"/>
          <p:cNvSpPr/>
          <p:nvPr/>
        </p:nvSpPr>
        <p:spPr>
          <a:xfrm>
            <a:off x="8168640" y="1783080"/>
            <a:ext cx="344424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97240" y="2011680"/>
            <a:ext cx="502920" cy="502920"/>
          </a:xfrm>
          <a:prstGeom prst="ellipse">
            <a:avLst/>
          </a:prstGeom>
          <a:solidFill>
            <a:srgbClr val="16233A"/>
          </a:solidFill>
          <a:ln/>
        </p:spPr>
      </p:sp>
      <p:pic>
        <p:nvPicPr>
          <p:cNvPr id="18" name="Image 2" descr="fil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7590" y="2072030"/>
            <a:ext cx="382219" cy="38221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9808" y="2606040"/>
            <a:ext cx="3041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Graphics &amp; Rendering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369808" y="2990088"/>
            <a:ext cx="3041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complex </a:t>
            </a:r>
            <a:r>
              <a:rPr lang="en-US" sz="1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scenes and visual effects in parallel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1" name="Shape 16"/>
          <p:cNvSpPr/>
          <p:nvPr/>
        </p:nvSpPr>
        <p:spPr>
          <a:xfrm>
            <a:off x="548640" y="3794760"/>
            <a:ext cx="344424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rgbClr val="16233A"/>
          </a:solidFill>
          <a:ln/>
        </p:spPr>
      </p:sp>
      <p:pic>
        <p:nvPicPr>
          <p:cNvPr id="23" name="Image 3" descr="fla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590" y="4083710"/>
            <a:ext cx="382219" cy="38221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9808" y="4617720"/>
            <a:ext cx="3041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Simulation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749808" y="5001768"/>
            <a:ext cx="3041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physics, chemistry &amp; biology at </a:t>
            </a:r>
            <a:r>
              <a:rPr lang="en-US" sz="1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scale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6" name="Shape 20"/>
          <p:cNvSpPr/>
          <p:nvPr/>
        </p:nvSpPr>
        <p:spPr>
          <a:xfrm>
            <a:off x="4358640" y="3794760"/>
            <a:ext cx="344424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587240" y="4023360"/>
            <a:ext cx="502920" cy="502920"/>
          </a:xfrm>
          <a:prstGeom prst="ellipse">
            <a:avLst/>
          </a:prstGeom>
          <a:solidFill>
            <a:srgbClr val="16233A"/>
          </a:solidFill>
          <a:ln/>
        </p:spPr>
      </p:sp>
      <p:pic>
        <p:nvPicPr>
          <p:cNvPr id="28" name="Image 4" descr="chartli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7590" y="4083710"/>
            <a:ext cx="382219" cy="382219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559808" y="4617720"/>
            <a:ext cx="3041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</a:t>
            </a:r>
            <a:endParaRPr lang="en-US" sz="2000" dirty="0"/>
          </a:p>
        </p:txBody>
      </p:sp>
      <p:sp>
        <p:nvSpPr>
          <p:cNvPr id="30" name="Text 23"/>
          <p:cNvSpPr/>
          <p:nvPr/>
        </p:nvSpPr>
        <p:spPr>
          <a:xfrm>
            <a:off x="4559808" y="5001768"/>
            <a:ext cx="3041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massive datasets across </a:t>
            </a:r>
            <a:r>
              <a:rPr lang="en-US" sz="1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of machines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1" name="Shape 24"/>
          <p:cNvSpPr/>
          <p:nvPr/>
        </p:nvSpPr>
        <p:spPr>
          <a:xfrm>
            <a:off x="8168640" y="3794760"/>
            <a:ext cx="344424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397240" y="4023360"/>
            <a:ext cx="502920" cy="502920"/>
          </a:xfrm>
          <a:prstGeom prst="ellipse">
            <a:avLst/>
          </a:prstGeom>
          <a:solidFill>
            <a:srgbClr val="16233A"/>
          </a:solidFill>
          <a:ln/>
        </p:spPr>
      </p:sp>
      <p:pic>
        <p:nvPicPr>
          <p:cNvPr id="33" name="Image 5" descr="serv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7590" y="4083710"/>
            <a:ext cx="382219" cy="382219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369808" y="4617720"/>
            <a:ext cx="3041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Web Services</a:t>
            </a:r>
            <a:endParaRPr lang="en-US" sz="2000" dirty="0"/>
          </a:p>
        </p:txBody>
      </p:sp>
      <p:sp>
        <p:nvSpPr>
          <p:cNvPr id="35" name="Text 27"/>
          <p:cNvSpPr/>
          <p:nvPr/>
        </p:nvSpPr>
        <p:spPr>
          <a:xfrm>
            <a:off x="8369808" y="5001768"/>
            <a:ext cx="3041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</a:t>
            </a:r>
            <a:r>
              <a:rPr lang="en-US" sz="1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requests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distributed servers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CS-426  -  PARALLEL &amp; DISTRIBUTED COMPUTING  |  WEEK 1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75488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E2A44"/>
          </a:solidFill>
          <a:ln w="12700">
            <a:solidFill>
              <a:srgbClr val="2C3B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509760" y="4754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SESSION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Recap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16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40280"/>
            <a:ext cx="594360" cy="59436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8" name="Image 0" descr="list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" y="2311603"/>
            <a:ext cx="451714" cy="45171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36192" y="2103120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covers parallel &amp; distributed computing end to end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309360" y="192024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16233A"/>
          </a:solidFill>
          <a:ln/>
        </p:spPr>
      </p:sp>
      <p:sp>
        <p:nvSpPr>
          <p:cNvPr id="11" name="Shape 8"/>
          <p:cNvSpPr/>
          <p:nvPr/>
        </p:nvSpPr>
        <p:spPr>
          <a:xfrm>
            <a:off x="6537960" y="2240280"/>
            <a:ext cx="594360" cy="59436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2" name="Image 1" descr="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283" y="2311603"/>
            <a:ext cx="451714" cy="45171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96912" y="2103120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Single-core speed hit physical limits - hardware went multi-core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352044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16233A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840480"/>
            <a:ext cx="594360" cy="59436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6" name="Image 2" descr="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" y="391180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36192" y="3703320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must be written to use multiple cores to get faster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309360" y="352044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16233A"/>
          </a:solidFill>
          <a:ln/>
        </p:spPr>
      </p:sp>
      <p:sp>
        <p:nvSpPr>
          <p:cNvPr id="19" name="Shape 14"/>
          <p:cNvSpPr/>
          <p:nvPr/>
        </p:nvSpPr>
        <p:spPr>
          <a:xfrm>
            <a:off x="6537960" y="3840480"/>
            <a:ext cx="594360" cy="59436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0" name="Image 3" descr="chart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9283" y="3911803"/>
            <a:ext cx="451714" cy="45171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96912" y="3703320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computing powers weather, AI, graphics, big data &amp; more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548640" y="5577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break, then Session 2: Introduction to Parallel Computing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6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CS-426  -  PARALLEL &amp; DISTRIBUTED COMPUTING  |  WEEK 1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474720"/>
            <a:ext cx="6400800" cy="6400800"/>
          </a:xfrm>
          <a:prstGeom prst="ellipse">
            <a:avLst/>
          </a:prstGeom>
          <a:ln w="25400">
            <a:solidFill>
              <a:srgbClr val="2434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278892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</a:t>
            </a:r>
            <a:endParaRPr lang="en-US" sz="3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Computing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58368" y="4343400"/>
            <a:ext cx="201168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6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CS-426  -  PARALLEL &amp; DISTRIBUTED COMPUTING  |  WEEK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75488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509760" y="4754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Parallel Computing?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computing is a type of computation where </a:t>
            </a:r>
            <a:r>
              <a:rPr lang="en-US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calculations </a:t>
            </a: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</a:t>
            </a:r>
            <a:r>
              <a:rPr lang="en-US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carried out simultaneously.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2798064"/>
            <a:ext cx="100584" cy="10058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24328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problem is </a:t>
            </a: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into smaller pieces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364992"/>
            <a:ext cx="100584" cy="10058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191256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</a:t>
            </a: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 is solved at the same time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one after another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00584" cy="10058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758184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Pieces run on </a:t>
            </a: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cores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processors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 </a:t>
            </a: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4498848"/>
            <a:ext cx="100584" cy="10058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325112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</a:t>
            </a:r>
            <a:r>
              <a:rPr lang="en-US" sz="16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the final answer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585216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12064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doing many things at once, instead of one thing at a time.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66560" y="1691640"/>
            <a:ext cx="4846320" cy="4206240"/>
          </a:xfrm>
          <a:prstGeom prst="roundRect">
            <a:avLst>
              <a:gd name="adj" fmla="val 2174"/>
            </a:avLst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2011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TASK, SPLIT ACROSS WORKERS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23760" y="256032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1E2A44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25603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1  -  processes chunk 1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223760" y="3364992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1E2A44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0" y="336499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2  -  processes chunk 2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223760" y="4169664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38BDF8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4169664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3  -  processes chunk 3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132320" y="5020056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cores work at the same time </a:t>
            </a: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</a:t>
            </a: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results combined faster than one core alone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CS-426  -  PARALLEL &amp; DISTRIBUTED COMPUTING  |  WEEK 1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75488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509760" y="4754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DIFFERENCE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 vs. Parallel Computing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16233A"/>
          </a:solidFill>
          <a:ln/>
        </p:spPr>
      </p:sp>
      <p:pic>
        <p:nvPicPr>
          <p:cNvPr id="8" name="Image 0" descr="sync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" y="2117750"/>
            <a:ext cx="382219" cy="38221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1031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Computing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68680" y="2834640"/>
            <a:ext cx="4754880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834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 (one at a time)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" y="3401568"/>
            <a:ext cx="4754880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40156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 (one at a time)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8680" y="3968496"/>
            <a:ext cx="4754880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396849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 (one at a time)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" y="4535424"/>
            <a:ext cx="4754880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453542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 (one at a time)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68680" y="523951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processor executes one instruction at a time, in sequence.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263640" y="178308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/>
        </p:spPr>
      </p:sp>
      <p:sp>
        <p:nvSpPr>
          <p:cNvPr id="20" name="Shape 17"/>
          <p:cNvSpPr/>
          <p:nvPr/>
        </p:nvSpPr>
        <p:spPr>
          <a:xfrm>
            <a:off x="6537960" y="205740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1" name="Image 1" descr="layergro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310" y="2117750"/>
            <a:ext cx="382219" cy="382219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178040" y="210312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Computing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6583680" y="2834640"/>
            <a:ext cx="4709160" cy="457200"/>
          </a:xfrm>
          <a:prstGeom prst="roundRect">
            <a:avLst>
              <a:gd name="adj" fmla="val 10000"/>
            </a:avLst>
          </a:prstGeom>
          <a:solidFill>
            <a:srgbClr val="38BDF8"/>
          </a:solidFill>
          <a:ln/>
        </p:spPr>
      </p:sp>
      <p:sp>
        <p:nvSpPr>
          <p:cNvPr id="24" name="Text 20"/>
          <p:cNvSpPr/>
          <p:nvPr/>
        </p:nvSpPr>
        <p:spPr>
          <a:xfrm>
            <a:off x="6583680" y="283464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 (running together)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583680" y="3401568"/>
            <a:ext cx="4709160" cy="457200"/>
          </a:xfrm>
          <a:prstGeom prst="roundRect">
            <a:avLst>
              <a:gd name="adj" fmla="val 10000"/>
            </a:avLst>
          </a:prstGeom>
          <a:solidFill>
            <a:srgbClr val="38BDF8"/>
          </a:solidFill>
          <a:ln/>
        </p:spPr>
      </p:sp>
      <p:sp>
        <p:nvSpPr>
          <p:cNvPr id="26" name="Text 22"/>
          <p:cNvSpPr/>
          <p:nvPr/>
        </p:nvSpPr>
        <p:spPr>
          <a:xfrm>
            <a:off x="6583680" y="340156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 (running together)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583680" y="3968496"/>
            <a:ext cx="4709160" cy="457200"/>
          </a:xfrm>
          <a:prstGeom prst="roundRect">
            <a:avLst>
              <a:gd name="adj" fmla="val 10000"/>
            </a:avLst>
          </a:prstGeom>
          <a:solidFill>
            <a:srgbClr val="38BDF8"/>
          </a:solidFill>
          <a:ln/>
        </p:spPr>
      </p:sp>
      <p:sp>
        <p:nvSpPr>
          <p:cNvPr id="28" name="Text 24"/>
          <p:cNvSpPr/>
          <p:nvPr/>
        </p:nvSpPr>
        <p:spPr>
          <a:xfrm>
            <a:off x="6583680" y="3968496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 (running together)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6583680" y="4535424"/>
            <a:ext cx="4709160" cy="457200"/>
          </a:xfrm>
          <a:prstGeom prst="roundRect">
            <a:avLst>
              <a:gd name="adj" fmla="val 10000"/>
            </a:avLst>
          </a:prstGeom>
          <a:solidFill>
            <a:srgbClr val="38BDF8"/>
          </a:solidFill>
          <a:ln/>
        </p:spPr>
      </p:sp>
      <p:sp>
        <p:nvSpPr>
          <p:cNvPr id="30" name="Text 26"/>
          <p:cNvSpPr/>
          <p:nvPr/>
        </p:nvSpPr>
        <p:spPr>
          <a:xfrm>
            <a:off x="6583680" y="4535424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 (running together)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6583680" y="5239512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processors execute several instructions simultaneously.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CS-426  -  PARALLEL &amp; DISTRIBUTED COMPUTING  |  WEEK 1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279618FA-2616-4650-686A-F7810BCFFE16}"/>
              </a:ext>
            </a:extLst>
          </p:cNvPr>
          <p:cNvSpPr/>
          <p:nvPr/>
        </p:nvSpPr>
        <p:spPr>
          <a:xfrm>
            <a:off x="2950665" y="3277779"/>
            <a:ext cx="129396" cy="109728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6E0C2EA0-AAE9-479E-8C3A-20E605A8F7AF}"/>
              </a:ext>
            </a:extLst>
          </p:cNvPr>
          <p:cNvSpPr/>
          <p:nvPr/>
        </p:nvSpPr>
        <p:spPr>
          <a:xfrm>
            <a:off x="2950665" y="3854196"/>
            <a:ext cx="129396" cy="109728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C95BA1E2-F9FA-ECD3-7939-C558CA49422B}"/>
              </a:ext>
            </a:extLst>
          </p:cNvPr>
          <p:cNvSpPr/>
          <p:nvPr/>
        </p:nvSpPr>
        <p:spPr>
          <a:xfrm>
            <a:off x="2950665" y="4422160"/>
            <a:ext cx="129396" cy="109728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FC3F3A8F-77B6-F0ED-D136-E67D4E40129B}"/>
              </a:ext>
            </a:extLst>
          </p:cNvPr>
          <p:cNvSpPr/>
          <p:nvPr/>
        </p:nvSpPr>
        <p:spPr>
          <a:xfrm>
            <a:off x="6660452" y="2965330"/>
            <a:ext cx="172529" cy="19582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485C0347-873E-5878-87D1-AB86A874A208}"/>
              </a:ext>
            </a:extLst>
          </p:cNvPr>
          <p:cNvSpPr/>
          <p:nvPr/>
        </p:nvSpPr>
        <p:spPr>
          <a:xfrm>
            <a:off x="6676845" y="3551322"/>
            <a:ext cx="172529" cy="19582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C7BE82C3-DD5B-5F38-4703-FA267BE3AF99}"/>
              </a:ext>
            </a:extLst>
          </p:cNvPr>
          <p:cNvSpPr/>
          <p:nvPr/>
        </p:nvSpPr>
        <p:spPr>
          <a:xfrm>
            <a:off x="6660022" y="4114144"/>
            <a:ext cx="172529" cy="19582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43F55FCB-0F3C-C0FB-4EEF-EF80F3DD9A50}"/>
              </a:ext>
            </a:extLst>
          </p:cNvPr>
          <p:cNvSpPr/>
          <p:nvPr/>
        </p:nvSpPr>
        <p:spPr>
          <a:xfrm>
            <a:off x="6676845" y="4666114"/>
            <a:ext cx="172529" cy="19582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F5C98624-8F0C-9BFA-684E-E2D2E3FD4471}"/>
              </a:ext>
            </a:extLst>
          </p:cNvPr>
          <p:cNvSpPr/>
          <p:nvPr/>
        </p:nvSpPr>
        <p:spPr>
          <a:xfrm>
            <a:off x="10962158" y="2965330"/>
            <a:ext cx="172529" cy="19582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CECC9D4B-47B4-2D15-F931-A7967069214A}"/>
              </a:ext>
            </a:extLst>
          </p:cNvPr>
          <p:cNvSpPr/>
          <p:nvPr/>
        </p:nvSpPr>
        <p:spPr>
          <a:xfrm>
            <a:off x="10978551" y="3551322"/>
            <a:ext cx="172529" cy="19582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5AF19855-E79F-6A37-5BED-F61642F9F7A5}"/>
              </a:ext>
            </a:extLst>
          </p:cNvPr>
          <p:cNvSpPr/>
          <p:nvPr/>
        </p:nvSpPr>
        <p:spPr>
          <a:xfrm>
            <a:off x="10961728" y="4114144"/>
            <a:ext cx="172529" cy="19582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B65A255A-5C0A-7758-10D8-6AA20C13FF5D}"/>
              </a:ext>
            </a:extLst>
          </p:cNvPr>
          <p:cNvSpPr/>
          <p:nvPr/>
        </p:nvSpPr>
        <p:spPr>
          <a:xfrm>
            <a:off x="10978551" y="4666114"/>
            <a:ext cx="172529" cy="19582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75488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509760" y="4754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BASIC FORMS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Parallelism vs. Task Parallelism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16233A"/>
          </a:solidFill>
          <a:ln/>
        </p:spPr>
      </p:sp>
      <p:pic>
        <p:nvPicPr>
          <p:cNvPr id="8" name="Image 0" descr="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" y="2117750"/>
            <a:ext cx="382219" cy="38221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1031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Parallelism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60" y="27432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operation </a:t>
            </a: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applied to </a:t>
            </a:r>
            <a:r>
              <a:rPr lang="en-US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pieces </a:t>
            </a: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at the </a:t>
            </a:r>
            <a:r>
              <a:rPr lang="en-US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time</a:t>
            </a: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822960" y="3520440"/>
            <a:ext cx="4846320" cy="1463040"/>
          </a:xfrm>
          <a:prstGeom prst="roundRect">
            <a:avLst>
              <a:gd name="adj" fmla="val 3750"/>
            </a:avLst>
          </a:prstGeom>
          <a:solidFill>
            <a:srgbClr val="0F172A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352044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brightening every pixel </a:t>
            </a:r>
            <a:r>
              <a:rPr lang="en-US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 image - each core handles a different</a:t>
            </a:r>
            <a:r>
              <a:rPr lang="en-US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region</a:t>
            </a:r>
            <a:r>
              <a:rPr lang="en-US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applying the </a:t>
            </a:r>
            <a:r>
              <a:rPr lang="en-US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operation</a:t>
            </a:r>
            <a:r>
              <a:rPr lang="en-US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6263640" y="178308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/>
        </p:spPr>
      </p:sp>
      <p:sp>
        <p:nvSpPr>
          <p:cNvPr id="14" name="Shape 11"/>
          <p:cNvSpPr/>
          <p:nvPr/>
        </p:nvSpPr>
        <p:spPr>
          <a:xfrm>
            <a:off x="6537960" y="205740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5" name="Image 1" descr="tas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310" y="2117750"/>
            <a:ext cx="382219" cy="38221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78040" y="210312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Parallelism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537960" y="274320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tasks </a:t>
            </a: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operations run at the </a:t>
            </a:r>
            <a:r>
              <a:rPr lang="en-US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time</a:t>
            </a: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often on </a:t>
            </a:r>
            <a:r>
              <a:rPr lang="en-US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data</a:t>
            </a: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</p:txBody>
      </p:sp>
      <p:sp>
        <p:nvSpPr>
          <p:cNvPr id="18" name="Shape 14"/>
          <p:cNvSpPr/>
          <p:nvPr/>
        </p:nvSpPr>
        <p:spPr>
          <a:xfrm>
            <a:off x="6537960" y="3520440"/>
            <a:ext cx="4800600" cy="1463040"/>
          </a:xfrm>
          <a:prstGeom prst="roundRect">
            <a:avLst>
              <a:gd name="adj" fmla="val 3750"/>
            </a:avLst>
          </a:prstGeom>
          <a:solidFill>
            <a:srgbClr val="38BDF8"/>
          </a:solidFill>
          <a:ln/>
        </p:spPr>
      </p:sp>
      <p:sp>
        <p:nvSpPr>
          <p:cNvPr id="19" name="Text 15"/>
          <p:cNvSpPr/>
          <p:nvPr/>
        </p:nvSpPr>
        <p:spPr>
          <a:xfrm>
            <a:off x="6766560" y="3520440"/>
            <a:ext cx="4343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in a video app, one thread </a:t>
            </a:r>
            <a:r>
              <a:rPr lang="en-US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decodes audio</a:t>
            </a:r>
            <a:r>
              <a:rPr lang="en-US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while another </a:t>
            </a:r>
            <a:r>
              <a:rPr lang="en-US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video </a:t>
            </a:r>
            <a:r>
              <a:rPr lang="en-US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jobs</a:t>
            </a:r>
            <a:r>
              <a:rPr lang="en-US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running together.</a:t>
            </a: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CS-426  -  PARALLEL &amp; DISTRIBUTED COMPUTING  |  WEEK 1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75488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509760" y="4754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HARDWARE TO SOFTWARE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Levels of Parallelism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39" y="1828800"/>
            <a:ext cx="3766185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385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Bit-Level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335661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more bits per instruction as </a:t>
            </a:r>
            <a:r>
              <a:rPr lang="en-US" sz="1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size grows 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32-bit to 64-bit).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52928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6265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Instruction-Level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77240" y="331012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overlaps </a:t>
            </a:r>
            <a:r>
              <a:rPr lang="en-US" sz="1400" dirty="0">
                <a:solidFill>
                  <a:srgbClr val="0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reorders instructions </a:t>
            </a:r>
            <a:r>
              <a:rPr lang="en-US" sz="1400" dirty="0">
                <a:solidFill>
                  <a:srgbClr val="0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more get done per clock cycle.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77056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98678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Data-Level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77240" y="4334256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operation 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across </a:t>
            </a:r>
            <a:r>
              <a:rPr lang="en-US" sz="1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data elements 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once (arrays, pixels, records).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901184"/>
            <a:ext cx="9784080" cy="91440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010912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Task-Level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77240" y="5358384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</a:t>
            </a:r>
            <a:r>
              <a:rPr lang="en-US" sz="1400" dirty="0">
                <a:solidFill>
                  <a:srgbClr val="0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r>
              <a:rPr lang="en-US" sz="1400" dirty="0">
                <a:solidFill>
                  <a:srgbClr val="0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r>
              <a:rPr lang="en-US" sz="1400" dirty="0">
                <a:solidFill>
                  <a:srgbClr val="0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 concurrently </a:t>
            </a:r>
            <a:r>
              <a:rPr lang="en-US" sz="1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cores</a:t>
            </a:r>
            <a:r>
              <a:rPr lang="en-US" sz="1400" dirty="0">
                <a:solidFill>
                  <a:srgbClr val="0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processors</a:t>
            </a:r>
            <a:r>
              <a:rPr lang="en-US" sz="1400" dirty="0">
                <a:solidFill>
                  <a:srgbClr val="0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 </a:t>
            </a:r>
            <a:r>
              <a:rPr lang="en-US" sz="1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</a:t>
            </a:r>
            <a:r>
              <a:rPr lang="en-US" sz="1400" dirty="0">
                <a:solidFill>
                  <a:srgbClr val="0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59710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scale 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</a:t>
            </a: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from bits inside a CPU, to whole independent tasks across machines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CS-426  -  PARALLEL &amp; DISTRIBUTED COMPUTING  |  WEEK 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75488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509760" y="4754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RELATED, BUT DIFFERENT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vs. Distributed Computing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16233A"/>
          </a:solidFill>
          <a:ln/>
        </p:spPr>
      </p:sp>
      <p:pic>
        <p:nvPicPr>
          <p:cNvPr id="8" name="Image 0" descr="micro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" y="2117750"/>
            <a:ext cx="382219" cy="38221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1031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Computing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68680" y="2889504"/>
            <a:ext cx="100584" cy="10058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271576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cores inside one machine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868680" y="3438144"/>
            <a:ext cx="100584" cy="10058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326440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Tightly shares memory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68680" y="3986784"/>
            <a:ext cx="100584" cy="10058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381304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solve one problem faster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263640" y="178308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205740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8" name="Image 1" descr="networkwi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310" y="2117750"/>
            <a:ext cx="382219" cy="38221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178040" y="210312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Computing</a:t>
            </a:r>
            <a:endParaRPr lang="en-US" sz="2400" dirty="0"/>
          </a:p>
        </p:txBody>
      </p:sp>
      <p:sp>
        <p:nvSpPr>
          <p:cNvPr id="20" name="Shape 16"/>
          <p:cNvSpPr/>
          <p:nvPr/>
        </p:nvSpPr>
        <p:spPr>
          <a:xfrm>
            <a:off x="6583680" y="2889504"/>
            <a:ext cx="100584" cy="10058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1" name="Text 17"/>
          <p:cNvSpPr/>
          <p:nvPr/>
        </p:nvSpPr>
        <p:spPr>
          <a:xfrm>
            <a:off x="6858000" y="271576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machines over a network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6583680" y="3438144"/>
            <a:ext cx="100584" cy="10058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3" name="Text 19"/>
          <p:cNvSpPr/>
          <p:nvPr/>
        </p:nvSpPr>
        <p:spPr>
          <a:xfrm>
            <a:off x="6858000" y="326440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has its own memory</a:t>
            </a:r>
            <a:endParaRPr lang="en-US" sz="2000" dirty="0"/>
          </a:p>
        </p:txBody>
      </p:sp>
      <p:sp>
        <p:nvSpPr>
          <p:cNvPr id="24" name="Shape 20"/>
          <p:cNvSpPr/>
          <p:nvPr/>
        </p:nvSpPr>
        <p:spPr>
          <a:xfrm>
            <a:off x="6583680" y="3986784"/>
            <a:ext cx="100584" cy="10058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5" name="Text 21"/>
          <p:cNvSpPr/>
          <p:nvPr/>
        </p:nvSpPr>
        <p:spPr>
          <a:xfrm>
            <a:off x="6858000" y="381304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coordinate toward a shared task</a:t>
            </a:r>
            <a:endParaRPr lang="en-US" sz="2000" dirty="0"/>
          </a:p>
        </p:txBody>
      </p:sp>
      <p:sp>
        <p:nvSpPr>
          <p:cNvPr id="26" name="Shape 22"/>
          <p:cNvSpPr/>
          <p:nvPr/>
        </p:nvSpPr>
        <p:spPr>
          <a:xfrm>
            <a:off x="822960" y="4663440"/>
            <a:ext cx="4846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22960" y="48463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starts with </a:t>
            </a: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computing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</a:t>
            </a: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up to distributed systems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537960" y="4663440"/>
            <a:ext cx="4800600" cy="0"/>
          </a:xfrm>
          <a:prstGeom prst="line">
            <a:avLst/>
          </a:prstGeom>
          <a:noFill/>
          <a:ln w="12700">
            <a:solidFill>
              <a:srgbClr val="2C3B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537960" y="48463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</a:t>
            </a: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computers</a:t>
            </a:r>
            <a:r>
              <a:rPr lang="en-US" sz="1100" i="1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multiple cores - </a:t>
            </a: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over the network</a:t>
            </a:r>
            <a:r>
              <a:rPr lang="en-US" sz="1100" i="1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CS-426  -  PARALLEL &amp; DISTRIBUTED COMPUTING  |  WEEK 1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75488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E2A44"/>
          </a:solidFill>
          <a:ln w="12700">
            <a:solidFill>
              <a:srgbClr val="2C3B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509760" y="4754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1: What We Covered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16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011680"/>
            <a:ext cx="530352" cy="530352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8" name="Image 0" descr="list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62" y="2075322"/>
            <a:ext cx="403068" cy="4030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08176" y="1901952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overview, pre-requisites &amp; what to expect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6309360" y="178308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16233A"/>
          </a:solidFill>
          <a:ln/>
        </p:spPr>
      </p:sp>
      <p:sp>
        <p:nvSpPr>
          <p:cNvPr id="11" name="Shape 8"/>
          <p:cNvSpPr/>
          <p:nvPr/>
        </p:nvSpPr>
        <p:spPr>
          <a:xfrm>
            <a:off x="6492240" y="2011680"/>
            <a:ext cx="530352" cy="530352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2" name="Image 1" descr="ro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5882" y="2075322"/>
            <a:ext cx="403068" cy="4030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68896" y="1901952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parallel computing matters: limits &amp; the multi-core shift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548640" y="3081528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16233A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3310128"/>
            <a:ext cx="530352" cy="530352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6" name="Image 2" descr="chart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162" y="3373770"/>
            <a:ext cx="403068" cy="4030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08176" y="320040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uses: weather, AI, graphics, big data, cloud</a:t>
            </a: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6309360" y="3081528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16233A"/>
          </a:solidFill>
          <a:ln/>
        </p:spPr>
      </p:sp>
      <p:sp>
        <p:nvSpPr>
          <p:cNvPr id="19" name="Shape 14"/>
          <p:cNvSpPr/>
          <p:nvPr/>
        </p:nvSpPr>
        <p:spPr>
          <a:xfrm>
            <a:off x="6492240" y="3310128"/>
            <a:ext cx="530352" cy="530352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0" name="Image 3" descr="microchi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5882" y="3373770"/>
            <a:ext cx="403068" cy="4030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68896" y="320040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computing = solving one problem, many pieces at once</a:t>
            </a:r>
            <a:endParaRPr lang="en-US" dirty="0"/>
          </a:p>
        </p:txBody>
      </p:sp>
      <p:sp>
        <p:nvSpPr>
          <p:cNvPr id="22" name="Shape 16"/>
          <p:cNvSpPr/>
          <p:nvPr/>
        </p:nvSpPr>
        <p:spPr>
          <a:xfrm>
            <a:off x="548640" y="4379976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16233A"/>
          </a:solidFill>
          <a:ln/>
        </p:spPr>
      </p:sp>
      <p:sp>
        <p:nvSpPr>
          <p:cNvPr id="23" name="Shape 17"/>
          <p:cNvSpPr/>
          <p:nvPr/>
        </p:nvSpPr>
        <p:spPr>
          <a:xfrm>
            <a:off x="731520" y="4608576"/>
            <a:ext cx="530352" cy="530352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4" name="Image 4" descr="synca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162" y="4672218"/>
            <a:ext cx="403068" cy="40306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08176" y="4498848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does one thing at a time; parallel does many</a:t>
            </a:r>
            <a:endParaRPr lang="en-US" dirty="0"/>
          </a:p>
        </p:txBody>
      </p:sp>
      <p:sp>
        <p:nvSpPr>
          <p:cNvPr id="26" name="Shape 19"/>
          <p:cNvSpPr/>
          <p:nvPr/>
        </p:nvSpPr>
        <p:spPr>
          <a:xfrm>
            <a:off x="6309360" y="4379976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16233A"/>
          </a:solidFill>
          <a:ln/>
        </p:spPr>
      </p:sp>
      <p:sp>
        <p:nvSpPr>
          <p:cNvPr id="27" name="Shape 20"/>
          <p:cNvSpPr/>
          <p:nvPr/>
        </p:nvSpPr>
        <p:spPr>
          <a:xfrm>
            <a:off x="6492240" y="4608576"/>
            <a:ext cx="530352" cy="530352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8" name="Image 5" descr="networkwir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5882" y="4672218"/>
            <a:ext cx="403068" cy="4030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168896" y="4498848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vs. task parallelism, levels of parallelism &amp; distributed computing</a:t>
            </a:r>
            <a:endParaRPr lang="en-US" dirty="0"/>
          </a:p>
        </p:txBody>
      </p:sp>
      <p:sp>
        <p:nvSpPr>
          <p:cNvPr id="30" name="Text 2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6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CS-426  -  PARALLEL &amp; DISTRIBUTED COMPUTING  |  WEEK 1</a:t>
            </a:r>
            <a:endParaRPr lang="en-US" sz="950" dirty="0"/>
          </a:p>
        </p:txBody>
      </p:sp>
      <p:sp>
        <p:nvSpPr>
          <p:cNvPr id="31" name="Text 23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4114800"/>
            <a:ext cx="5486400" cy="5486400"/>
          </a:xfrm>
          <a:prstGeom prst="ellipse">
            <a:avLst/>
          </a:prstGeom>
          <a:ln w="254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IN WEEK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Parallelism &amp; the Multi-Core Shift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 we'll go </a:t>
            </a: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into data parallelism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vs. distributed computing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how the move to </a:t>
            </a: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multi-core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multi-processor 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</a:t>
            </a: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reshaped software design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along with processes and threads.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931920"/>
            <a:ext cx="658368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16233A"/>
          </a:solidFill>
          <a:ln/>
        </p:spPr>
      </p:sp>
      <p:pic>
        <p:nvPicPr>
          <p:cNvPr id="8" name="Image 0" descr="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" y="4220870"/>
            <a:ext cx="382219" cy="38221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42062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63040" y="4553712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this week's slides and think of one more real-world example of parallel computing.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229600" y="2103120"/>
            <a:ext cx="1828800" cy="182880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2" name="Image 1" descr="ques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56" y="2322576"/>
            <a:ext cx="1389888" cy="1389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0" y="41605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CS-426  -  PARALLEL &amp; DISTRIBUTED COMPUTING  |  WEEK 1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377440"/>
            <a:ext cx="6217920" cy="6217920"/>
          </a:xfrm>
          <a:prstGeom prst="ellipse">
            <a:avLst/>
          </a:prstGeom>
          <a:ln w="31750">
            <a:solidFill>
              <a:srgbClr val="2434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1463040"/>
            <a:ext cx="4389120" cy="4389120"/>
          </a:xfrm>
          <a:prstGeom prst="ellipse">
            <a:avLst/>
          </a:prstGeom>
          <a:ln w="19050">
            <a:solidFill>
              <a:srgbClr val="2434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658368" y="3703320"/>
            <a:ext cx="201168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next class - let's start building parallel thinking.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Zakir Khan  |  Department of Computer Science  |  Air University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1333</Words>
  <Application>Microsoft Office PowerPoint</Application>
  <PresentationFormat>Widescreen</PresentationFormat>
  <Paragraphs>225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Dr. Zakir</cp:lastModifiedBy>
  <cp:revision>9</cp:revision>
  <dcterms:created xsi:type="dcterms:W3CDTF">2026-09-09T05:51:55Z</dcterms:created>
  <dcterms:modified xsi:type="dcterms:W3CDTF">2026-09-09T07:20:44Z</dcterms:modified>
</cp:coreProperties>
</file>